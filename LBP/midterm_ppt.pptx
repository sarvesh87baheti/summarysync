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Medium" panose="00000600000000000000" pitchFamily="2" charset="0"/>
      <p:regular r:id="rId31"/>
      <p:bold r:id="rId32"/>
      <p:italic r:id="rId33"/>
      <p:boldItalic r:id="rId34"/>
    </p:embeddedFont>
    <p:embeddedFont>
      <p:font typeface="Montserrat SemiBold" panose="00000700000000000000" pitchFamily="2" charset="0"/>
      <p:regular r:id="rId35"/>
      <p:bold r:id="rId36"/>
      <p:italic r:id="rId37"/>
      <p:boldItalic r:id="rId38"/>
    </p:embeddedFont>
    <p:embeddedFont>
      <p:font typeface="Raleway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tableStyles" Target="tableStyles.xml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 Baheti" userId="460f0e5fdd68596c" providerId="LiveId" clId="{7CE2E0DA-D3B1-4074-AB89-7E002DA76900}"/>
    <pc:docChg chg="custSel addSld delSld modSld">
      <pc:chgData name="Sarvesh Baheti" userId="460f0e5fdd68596c" providerId="LiveId" clId="{7CE2E0DA-D3B1-4074-AB89-7E002DA76900}" dt="2025-03-28T04:36:57.219" v="10" actId="47"/>
      <pc:docMkLst>
        <pc:docMk/>
      </pc:docMkLst>
      <pc:sldChg chg="addSp delSp modSp add del mod">
        <pc:chgData name="Sarvesh Baheti" userId="460f0e5fdd68596c" providerId="LiveId" clId="{7CE2E0DA-D3B1-4074-AB89-7E002DA76900}" dt="2025-03-28T04:36:57.219" v="10" actId="47"/>
        <pc:sldMkLst>
          <pc:docMk/>
          <pc:sldMk cId="1252227123" sldId="271"/>
        </pc:sldMkLst>
        <pc:spChg chg="mod">
          <ac:chgData name="Sarvesh Baheti" userId="460f0e5fdd68596c" providerId="LiveId" clId="{7CE2E0DA-D3B1-4074-AB89-7E002DA76900}" dt="2025-03-28T04:36:28.471" v="7" actId="20577"/>
          <ac:spMkLst>
            <pc:docMk/>
            <pc:sldMk cId="1252227123" sldId="271"/>
            <ac:spMk id="353" creationId="{013C35B1-E4D8-94D0-9456-E77D4006117D}"/>
          </ac:spMkLst>
        </pc:spChg>
        <pc:spChg chg="mod">
          <ac:chgData name="Sarvesh Baheti" userId="460f0e5fdd68596c" providerId="LiveId" clId="{7CE2E0DA-D3B1-4074-AB89-7E002DA76900}" dt="2025-03-28T04:36:18.854" v="1" actId="27636"/>
          <ac:spMkLst>
            <pc:docMk/>
            <pc:sldMk cId="1252227123" sldId="271"/>
            <ac:spMk id="354" creationId="{42E62BDB-C646-9DE1-CA36-D9F5A19A925E}"/>
          </ac:spMkLst>
        </pc:spChg>
        <pc:picChg chg="add">
          <ac:chgData name="Sarvesh Baheti" userId="460f0e5fdd68596c" providerId="LiveId" clId="{7CE2E0DA-D3B1-4074-AB89-7E002DA76900}" dt="2025-03-28T04:36:52.516" v="9" actId="22"/>
          <ac:picMkLst>
            <pc:docMk/>
            <pc:sldMk cId="1252227123" sldId="271"/>
            <ac:picMk id="3" creationId="{E90551CF-B960-6D04-7E1E-EF7D92D0CF93}"/>
          </ac:picMkLst>
        </pc:picChg>
        <pc:picChg chg="del">
          <ac:chgData name="Sarvesh Baheti" userId="460f0e5fdd68596c" providerId="LiveId" clId="{7CE2E0DA-D3B1-4074-AB89-7E002DA76900}" dt="2025-03-28T04:36:48.829" v="8" actId="478"/>
          <ac:picMkLst>
            <pc:docMk/>
            <pc:sldMk cId="1252227123" sldId="271"/>
            <ac:picMk id="355" creationId="{4790EECC-71AD-377A-7E1B-553B5D0620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851219593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3851219593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df60d42f3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df60d42f3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df60d42f3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df60d42f3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df60d42f3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3df60d42f3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8210feb0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38210feb0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8210feb0b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38210feb0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df60d42f3_0_9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3df60d42f3_0_9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df60d42f3_0_9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3df60d42f3_0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3df60d42f3_0_9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3df60d42f3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e066ce9d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3e066ce9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df60d42f3_0_9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3df60d42f3_0_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e007eba6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3e007eba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e007eba6a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3e007eba6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df60d42f3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3df60d42f3_0_10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3df60d42f3_0_10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QA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ctrTitle"/>
          </p:nvPr>
        </p:nvSpPr>
        <p:spPr>
          <a:xfrm>
            <a:off x="953467" y="2103989"/>
            <a:ext cx="5983200" cy="207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9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953467" y="4181211"/>
            <a:ext cx="5983200" cy="57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960000" y="2906167"/>
            <a:ext cx="10272000" cy="112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 idx="2" hasCustomPrompt="1"/>
          </p:nvPr>
        </p:nvSpPr>
        <p:spPr>
          <a:xfrm>
            <a:off x="3995400" y="1783767"/>
            <a:ext cx="42012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3189233" y="4176233"/>
            <a:ext cx="5813700" cy="951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 sz="1900">
                <a:solidFill>
                  <a:srgbClr val="434343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100" cy="7488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subTitle" idx="1"/>
          </p:nvPr>
        </p:nvSpPr>
        <p:spPr>
          <a:xfrm>
            <a:off x="1575233" y="3070833"/>
            <a:ext cx="3876900" cy="951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6448400" y="3070833"/>
            <a:ext cx="3876900" cy="951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3"/>
          </p:nvPr>
        </p:nvSpPr>
        <p:spPr>
          <a:xfrm>
            <a:off x="1575233" y="3889533"/>
            <a:ext cx="3876900" cy="951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4"/>
          </p:nvPr>
        </p:nvSpPr>
        <p:spPr>
          <a:xfrm>
            <a:off x="6448400" y="3889533"/>
            <a:ext cx="3876900" cy="951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100" cy="7488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100" cy="7488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44295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 sz="1900">
                <a:solidFill>
                  <a:srgbClr val="434343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100" cy="748800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 Extra Condensed"/>
              <a:buNone/>
              <a:defRPr sz="3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300" cy="337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960000" y="489898"/>
            <a:ext cx="10272000" cy="112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ubTitle" idx="1"/>
          </p:nvPr>
        </p:nvSpPr>
        <p:spPr>
          <a:xfrm>
            <a:off x="2988733" y="1798333"/>
            <a:ext cx="6214800" cy="2242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960000" y="3047200"/>
            <a:ext cx="10272000" cy="763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 hasCustomPrompt="1"/>
          </p:nvPr>
        </p:nvSpPr>
        <p:spPr>
          <a:xfrm>
            <a:off x="1712000" y="2077967"/>
            <a:ext cx="8768100" cy="201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1712000" y="4092833"/>
            <a:ext cx="8768100" cy="951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Q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1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953467" y="1462133"/>
            <a:ext cx="10284900" cy="4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○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■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○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■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●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○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Medium"/>
              <a:buChar char="■"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ctrTitle"/>
          </p:nvPr>
        </p:nvSpPr>
        <p:spPr>
          <a:xfrm>
            <a:off x="1524000" y="39084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QA"/>
              <a:t>Text Summariser</a:t>
            </a: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1"/>
          </p:nvPr>
        </p:nvSpPr>
        <p:spPr>
          <a:xfrm>
            <a:off x="1524000" y="2968054"/>
            <a:ext cx="9144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None/>
            </a:pPr>
            <a:r>
              <a:rPr lang="en-QA" sz="2800" b="1">
                <a:solidFill>
                  <a:srgbClr val="00B0F0"/>
                </a:solidFill>
              </a:rPr>
              <a:t>CSN-300 Lab Based Project 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QA" sz="2800"/>
              <a:t>Priyanshu Nareda </a:t>
            </a:r>
            <a:endParaRPr sz="28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QA" sz="2800"/>
              <a:t>Sarvesh Baheti </a:t>
            </a:r>
            <a:endParaRPr sz="28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Introduction and Progress</a:t>
            </a: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6033615" y="1573575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Final Project </a:t>
            </a:r>
            <a:endParaRPr sz="17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27"/>
          <p:cNvSpPr/>
          <p:nvPr/>
        </p:nvSpPr>
        <p:spPr>
          <a:xfrm rot="-5400000">
            <a:off x="5534980" y="1877532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86E6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0" name="Google Shape;140;p27"/>
          <p:cNvCxnSpPr>
            <a:stCxn id="141" idx="0"/>
            <a:endCxn id="139" idx="3"/>
          </p:cNvCxnSpPr>
          <p:nvPr/>
        </p:nvCxnSpPr>
        <p:spPr>
          <a:xfrm rot="10800000" flipH="1">
            <a:off x="3903428" y="1978368"/>
            <a:ext cx="1933800" cy="59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27"/>
          <p:cNvSpPr/>
          <p:nvPr/>
        </p:nvSpPr>
        <p:spPr>
          <a:xfrm>
            <a:off x="2912078" y="2576868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endParaRPr sz="17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27"/>
          <p:cNvSpPr/>
          <p:nvPr/>
        </p:nvSpPr>
        <p:spPr>
          <a:xfrm rot="-5400000">
            <a:off x="2408112" y="2880825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389D9B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9604894" y="2576857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endParaRPr sz="17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27"/>
          <p:cNvSpPr/>
          <p:nvPr/>
        </p:nvSpPr>
        <p:spPr>
          <a:xfrm rot="-5400000">
            <a:off x="9100928" y="2880814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49C7C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4788650" y="4082950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Abstraction Based Model</a:t>
            </a:r>
            <a:r>
              <a:rPr lang="en-QA" sz="1200"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27"/>
          <p:cNvSpPr/>
          <p:nvPr/>
        </p:nvSpPr>
        <p:spPr>
          <a:xfrm rot="-5400000">
            <a:off x="4303449" y="4407100"/>
            <a:ext cx="808200" cy="162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BF2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7" name="Google Shape;147;p27"/>
          <p:cNvCxnSpPr>
            <a:stCxn id="145" idx="0"/>
            <a:endCxn id="145" idx="0"/>
          </p:cNvCxnSpPr>
          <p:nvPr/>
        </p:nvCxnSpPr>
        <p:spPr>
          <a:xfrm>
            <a:off x="5780000" y="4082950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7"/>
          <p:cNvCxnSpPr>
            <a:stCxn id="138" idx="3"/>
            <a:endCxn id="143" idx="0"/>
          </p:cNvCxnSpPr>
          <p:nvPr/>
        </p:nvCxnSpPr>
        <p:spPr>
          <a:xfrm>
            <a:off x="8016315" y="1978275"/>
            <a:ext cx="2580000" cy="59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27"/>
          <p:cNvSpPr/>
          <p:nvPr/>
        </p:nvSpPr>
        <p:spPr>
          <a:xfrm>
            <a:off x="1237975" y="4084600"/>
            <a:ext cx="1982700" cy="8061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 Extraction Based Model </a:t>
            </a:r>
            <a:endParaRPr sz="17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27"/>
          <p:cNvSpPr/>
          <p:nvPr/>
        </p:nvSpPr>
        <p:spPr>
          <a:xfrm rot="-5400000">
            <a:off x="738775" y="4390300"/>
            <a:ext cx="803700" cy="1947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AAC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1" name="Google Shape;151;p27"/>
          <p:cNvCxnSpPr>
            <a:stCxn id="141" idx="2"/>
            <a:endCxn id="145" idx="0"/>
          </p:cNvCxnSpPr>
          <p:nvPr/>
        </p:nvCxnSpPr>
        <p:spPr>
          <a:xfrm>
            <a:off x="3903428" y="3386268"/>
            <a:ext cx="1876500" cy="696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p27"/>
          <p:cNvSpPr/>
          <p:nvPr/>
        </p:nvSpPr>
        <p:spPr>
          <a:xfrm>
            <a:off x="9627410" y="5891253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Integration of Models</a:t>
            </a:r>
            <a:r>
              <a:rPr lang="en-QA" sz="1200"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27"/>
          <p:cNvSpPr/>
          <p:nvPr/>
        </p:nvSpPr>
        <p:spPr>
          <a:xfrm rot="-5400000">
            <a:off x="9145895" y="6195160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BF2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4" name="Google Shape;154;p27"/>
          <p:cNvCxnSpPr>
            <a:stCxn id="152" idx="0"/>
            <a:endCxn id="152" idx="0"/>
          </p:cNvCxnSpPr>
          <p:nvPr/>
        </p:nvCxnSpPr>
        <p:spPr>
          <a:xfrm>
            <a:off x="10618760" y="5891253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27"/>
          <p:cNvSpPr/>
          <p:nvPr/>
        </p:nvSpPr>
        <p:spPr>
          <a:xfrm>
            <a:off x="9604891" y="4082943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 Frontend Website Design</a:t>
            </a:r>
            <a:endParaRPr sz="17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6" name="Google Shape;156;p27"/>
          <p:cNvSpPr/>
          <p:nvPr/>
        </p:nvSpPr>
        <p:spPr>
          <a:xfrm rot="-5400000">
            <a:off x="9100926" y="4386849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AAC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7" name="Google Shape;157;p27"/>
          <p:cNvCxnSpPr>
            <a:stCxn id="143" idx="2"/>
            <a:endCxn id="155" idx="0"/>
          </p:cNvCxnSpPr>
          <p:nvPr/>
        </p:nvCxnSpPr>
        <p:spPr>
          <a:xfrm>
            <a:off x="10596244" y="3386257"/>
            <a:ext cx="0" cy="696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27"/>
          <p:cNvSpPr/>
          <p:nvPr/>
        </p:nvSpPr>
        <p:spPr>
          <a:xfrm>
            <a:off x="4828010" y="5891253"/>
            <a:ext cx="1982700" cy="809400"/>
          </a:xfrm>
          <a:prstGeom prst="rect">
            <a:avLst/>
          </a:prstGeom>
          <a:solidFill>
            <a:srgbClr val="EEEEE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QA" sz="1700">
                <a:latin typeface="Montserrat Medium"/>
                <a:ea typeface="Montserrat Medium"/>
                <a:cs typeface="Montserrat Medium"/>
                <a:sym typeface="Montserrat Medium"/>
              </a:rPr>
              <a:t> Fine-tuning Model</a:t>
            </a:r>
            <a:r>
              <a:rPr lang="en-QA" sz="12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9" name="Google Shape;159;p27"/>
          <p:cNvSpPr/>
          <p:nvPr/>
        </p:nvSpPr>
        <p:spPr>
          <a:xfrm rot="-5400000">
            <a:off x="4324145" y="6195160"/>
            <a:ext cx="806100" cy="201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389D9B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0" name="Google Shape;160;p27"/>
          <p:cNvCxnSpPr/>
          <p:nvPr/>
        </p:nvCxnSpPr>
        <p:spPr>
          <a:xfrm>
            <a:off x="10618744" y="4888307"/>
            <a:ext cx="900" cy="1007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7"/>
          <p:cNvSpPr/>
          <p:nvPr/>
        </p:nvSpPr>
        <p:spPr>
          <a:xfrm>
            <a:off x="387520" y="4247956"/>
            <a:ext cx="480600" cy="48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2" name="Google Shape;162;p27"/>
          <p:cNvCxnSpPr/>
          <p:nvPr/>
        </p:nvCxnSpPr>
        <p:spPr>
          <a:xfrm>
            <a:off x="881266" y="4488260"/>
            <a:ext cx="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3" name="Google Shape;163;p27" title="Fig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3" y="4072786"/>
            <a:ext cx="917500" cy="9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/>
          <p:nvPr/>
        </p:nvSpPr>
        <p:spPr>
          <a:xfrm>
            <a:off x="3956209" y="4204081"/>
            <a:ext cx="480600" cy="48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5" name="Google Shape;165;p27"/>
          <p:cNvCxnSpPr/>
          <p:nvPr/>
        </p:nvCxnSpPr>
        <p:spPr>
          <a:xfrm>
            <a:off x="4449954" y="4444385"/>
            <a:ext cx="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6" name="Google Shape;166;p27" title="Fig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761" y="4028911"/>
            <a:ext cx="917500" cy="9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>
            <a:off x="3956191" y="6012381"/>
            <a:ext cx="480600" cy="48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8" name="Google Shape;168;p27"/>
          <p:cNvCxnSpPr/>
          <p:nvPr/>
        </p:nvCxnSpPr>
        <p:spPr>
          <a:xfrm>
            <a:off x="4449936" y="6252685"/>
            <a:ext cx="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9" name="Google Shape;169;p27" title="Fig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743" y="5837211"/>
            <a:ext cx="917500" cy="9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7"/>
          <p:cNvCxnSpPr>
            <a:stCxn id="141" idx="2"/>
            <a:endCxn id="149" idx="0"/>
          </p:cNvCxnSpPr>
          <p:nvPr/>
        </p:nvCxnSpPr>
        <p:spPr>
          <a:xfrm flipH="1">
            <a:off x="2229428" y="3386268"/>
            <a:ext cx="1674000" cy="698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7"/>
          <p:cNvCxnSpPr/>
          <p:nvPr/>
        </p:nvCxnSpPr>
        <p:spPr>
          <a:xfrm>
            <a:off x="5779544" y="4892432"/>
            <a:ext cx="900" cy="1007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7"/>
          <p:cNvSpPr/>
          <p:nvPr/>
        </p:nvSpPr>
        <p:spPr>
          <a:xfrm>
            <a:off x="2040048" y="2698056"/>
            <a:ext cx="480600" cy="480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73" name="Google Shape;173;p27"/>
          <p:cNvCxnSpPr/>
          <p:nvPr/>
        </p:nvCxnSpPr>
        <p:spPr>
          <a:xfrm>
            <a:off x="2533793" y="2938360"/>
            <a:ext cx="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4" name="Google Shape;174;p27" title="Fig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600" y="2522886"/>
            <a:ext cx="917500" cy="9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/>
          <p:nvPr/>
        </p:nvSpPr>
        <p:spPr>
          <a:xfrm>
            <a:off x="1600791" y="179465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Layer Module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28"/>
          <p:cNvSpPr/>
          <p:nvPr/>
        </p:nvSpPr>
        <p:spPr>
          <a:xfrm rot="-5400000">
            <a:off x="1033059" y="21482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1600791" y="3477829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Preprocessing module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2" name="Google Shape;182;p28"/>
          <p:cNvSpPr/>
          <p:nvPr/>
        </p:nvSpPr>
        <p:spPr>
          <a:xfrm rot="-5400000">
            <a:off x="1033059" y="3831379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3" name="Google Shape;183;p28"/>
          <p:cNvCxnSpPr>
            <a:stCxn id="179" idx="2"/>
            <a:endCxn id="181" idx="0"/>
          </p:cNvCxnSpPr>
          <p:nvPr/>
        </p:nvCxnSpPr>
        <p:spPr>
          <a:xfrm>
            <a:off x="2691741" y="2723758"/>
            <a:ext cx="0" cy="75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8"/>
          <p:cNvSpPr/>
          <p:nvPr/>
        </p:nvSpPr>
        <p:spPr>
          <a:xfrm>
            <a:off x="546479" y="3621976"/>
            <a:ext cx="640800" cy="640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5" name="Google Shape;185;p28"/>
          <p:cNvCxnSpPr>
            <a:endCxn id="184" idx="6"/>
          </p:cNvCxnSpPr>
          <p:nvPr/>
        </p:nvCxnSpPr>
        <p:spPr>
          <a:xfrm rot="10800000">
            <a:off x="1187279" y="3942376"/>
            <a:ext cx="1917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8"/>
          <p:cNvSpPr/>
          <p:nvPr/>
        </p:nvSpPr>
        <p:spPr>
          <a:xfrm>
            <a:off x="14279279" y="355408"/>
            <a:ext cx="640800" cy="6408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14279279" y="179460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8" name="Google Shape;188;p28"/>
          <p:cNvCxnSpPr>
            <a:stCxn id="189" idx="3"/>
            <a:endCxn id="186" idx="2"/>
          </p:cNvCxnSpPr>
          <p:nvPr/>
        </p:nvCxnSpPr>
        <p:spPr>
          <a:xfrm>
            <a:off x="14063279" y="6758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8"/>
          <p:cNvCxnSpPr>
            <a:stCxn id="187" idx="2"/>
            <a:endCxn id="191" idx="3"/>
          </p:cNvCxnSpPr>
          <p:nvPr/>
        </p:nvCxnSpPr>
        <p:spPr>
          <a:xfrm rot="10800000">
            <a:off x="14063279" y="21150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192;p28"/>
          <p:cNvSpPr/>
          <p:nvPr/>
        </p:nvSpPr>
        <p:spPr>
          <a:xfrm>
            <a:off x="1600791" y="515905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Summary Generation Module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3" name="Google Shape;193;p28"/>
          <p:cNvSpPr/>
          <p:nvPr/>
        </p:nvSpPr>
        <p:spPr>
          <a:xfrm rot="-5400000">
            <a:off x="1045434" y="551260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4" name="Google Shape;194;p28"/>
          <p:cNvCxnSpPr>
            <a:stCxn id="181" idx="2"/>
            <a:endCxn id="192" idx="0"/>
          </p:cNvCxnSpPr>
          <p:nvPr/>
        </p:nvCxnSpPr>
        <p:spPr>
          <a:xfrm>
            <a:off x="2691741" y="4406929"/>
            <a:ext cx="0" cy="75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8"/>
          <p:cNvSpPr/>
          <p:nvPr/>
        </p:nvSpPr>
        <p:spPr>
          <a:xfrm>
            <a:off x="546479" y="530320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6" name="Google Shape;196;p28"/>
          <p:cNvCxnSpPr>
            <a:stCxn id="193" idx="3"/>
            <a:endCxn id="195" idx="6"/>
          </p:cNvCxnSpPr>
          <p:nvPr/>
        </p:nvCxnSpPr>
        <p:spPr>
          <a:xfrm rot="10800000">
            <a:off x="1187334" y="5623608"/>
            <a:ext cx="20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28"/>
          <p:cNvSpPr/>
          <p:nvPr/>
        </p:nvSpPr>
        <p:spPr>
          <a:xfrm>
            <a:off x="546479" y="1938797"/>
            <a:ext cx="640800" cy="6408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8" name="Google Shape;198;p28"/>
          <p:cNvCxnSpPr>
            <a:stCxn id="197" idx="6"/>
            <a:endCxn id="180" idx="3"/>
          </p:cNvCxnSpPr>
          <p:nvPr/>
        </p:nvCxnSpPr>
        <p:spPr>
          <a:xfrm>
            <a:off x="1187279" y="2259197"/>
            <a:ext cx="19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735625" y="469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Architecture : Extraction Based Summariser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6874325" y="2549675"/>
            <a:ext cx="37686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Tokenization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6874325" y="3154288"/>
            <a:ext cx="37686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Stopword Removal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6874325" y="3746350"/>
            <a:ext cx="37686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Cleaning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6874325" y="4681288"/>
            <a:ext cx="3768600" cy="52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TF-IDF Vectorization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6874325" y="5361700"/>
            <a:ext cx="3768600" cy="52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Cosine Similarities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6874325" y="6042100"/>
            <a:ext cx="3768600" cy="52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Sentence Ranking Module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6" name="Google Shape;206;p28"/>
          <p:cNvCxnSpPr>
            <a:stCxn id="200" idx="1"/>
          </p:cNvCxnSpPr>
          <p:nvPr/>
        </p:nvCxnSpPr>
        <p:spPr>
          <a:xfrm flipH="1">
            <a:off x="3828725" y="2770625"/>
            <a:ext cx="3045600" cy="1177800"/>
          </a:xfrm>
          <a:prstGeom prst="bentConnector3">
            <a:avLst>
              <a:gd name="adj1" fmla="val 511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8"/>
          <p:cNvCxnSpPr>
            <a:stCxn id="203" idx="1"/>
            <a:endCxn id="192" idx="3"/>
          </p:cNvCxnSpPr>
          <p:nvPr/>
        </p:nvCxnSpPr>
        <p:spPr>
          <a:xfrm flipH="1">
            <a:off x="3782825" y="4943188"/>
            <a:ext cx="3091500" cy="6804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8"/>
          <p:cNvCxnSpPr>
            <a:stCxn id="204" idx="1"/>
            <a:endCxn id="192" idx="3"/>
          </p:cNvCxnSpPr>
          <p:nvPr/>
        </p:nvCxnSpPr>
        <p:spPr>
          <a:xfrm rot="10800000">
            <a:off x="3782825" y="5623600"/>
            <a:ext cx="309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8"/>
          <p:cNvCxnSpPr>
            <a:stCxn id="205" idx="1"/>
            <a:endCxn id="192" idx="3"/>
          </p:cNvCxnSpPr>
          <p:nvPr/>
        </p:nvCxnSpPr>
        <p:spPr>
          <a:xfrm rot="10800000">
            <a:off x="3782825" y="5623600"/>
            <a:ext cx="3091500" cy="6804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>
            <a:stCxn id="202" idx="1"/>
            <a:endCxn id="181" idx="3"/>
          </p:cNvCxnSpPr>
          <p:nvPr/>
        </p:nvCxnSpPr>
        <p:spPr>
          <a:xfrm rot="10800000">
            <a:off x="3782825" y="3942400"/>
            <a:ext cx="3091500" cy="24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 flipH="1">
            <a:off x="5305950" y="3368200"/>
            <a:ext cx="15801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/>
        </p:nvSpPr>
        <p:spPr>
          <a:xfrm>
            <a:off x="1600791" y="179465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29"/>
          <p:cNvSpPr/>
          <p:nvPr/>
        </p:nvSpPr>
        <p:spPr>
          <a:xfrm rot="-5400000">
            <a:off x="1033059" y="21482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1600791" y="3120967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Preprocessing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" name="Google Shape;219;p29"/>
          <p:cNvSpPr/>
          <p:nvPr/>
        </p:nvSpPr>
        <p:spPr>
          <a:xfrm rot="-5400000">
            <a:off x="1033059" y="3473167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0" name="Google Shape;220;p29"/>
          <p:cNvCxnSpPr>
            <a:stCxn id="216" idx="2"/>
            <a:endCxn id="218" idx="0"/>
          </p:cNvCxnSpPr>
          <p:nvPr/>
        </p:nvCxnSpPr>
        <p:spPr>
          <a:xfrm>
            <a:off x="2691741" y="2723758"/>
            <a:ext cx="0" cy="39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9"/>
          <p:cNvSpPr txBox="1">
            <a:spLocks noGrp="1"/>
          </p:cNvSpPr>
          <p:nvPr>
            <p:ph type="title"/>
          </p:nvPr>
        </p:nvSpPr>
        <p:spPr>
          <a:xfrm>
            <a:off x="735625" y="469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Architecture : Abstraction Based (phi-3) </a:t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546479" y="3263764"/>
            <a:ext cx="640800" cy="640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3" name="Google Shape;223;p29"/>
          <p:cNvCxnSpPr>
            <a:endCxn id="222" idx="6"/>
          </p:cNvCxnSpPr>
          <p:nvPr/>
        </p:nvCxnSpPr>
        <p:spPr>
          <a:xfrm rot="10800000">
            <a:off x="1187279" y="3584164"/>
            <a:ext cx="1917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9"/>
          <p:cNvSpPr/>
          <p:nvPr/>
        </p:nvSpPr>
        <p:spPr>
          <a:xfrm>
            <a:off x="14279279" y="355408"/>
            <a:ext cx="640800" cy="6408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14279279" y="179460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6" name="Google Shape;226;p29"/>
          <p:cNvCxnSpPr>
            <a:stCxn id="227" idx="3"/>
            <a:endCxn id="224" idx="2"/>
          </p:cNvCxnSpPr>
          <p:nvPr/>
        </p:nvCxnSpPr>
        <p:spPr>
          <a:xfrm>
            <a:off x="14063279" y="6758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9"/>
          <p:cNvCxnSpPr>
            <a:stCxn id="225" idx="2"/>
            <a:endCxn id="229" idx="3"/>
          </p:cNvCxnSpPr>
          <p:nvPr/>
        </p:nvCxnSpPr>
        <p:spPr>
          <a:xfrm rot="10800000">
            <a:off x="14063279" y="21150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9"/>
          <p:cNvSpPr/>
          <p:nvPr/>
        </p:nvSpPr>
        <p:spPr>
          <a:xfrm>
            <a:off x="1600791" y="444920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 Integration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1" name="Google Shape;231;p29"/>
          <p:cNvSpPr/>
          <p:nvPr/>
        </p:nvSpPr>
        <p:spPr>
          <a:xfrm rot="-5400000">
            <a:off x="1045434" y="48027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2" name="Google Shape;232;p29"/>
          <p:cNvCxnSpPr>
            <a:stCxn id="218" idx="2"/>
            <a:endCxn id="230" idx="0"/>
          </p:cNvCxnSpPr>
          <p:nvPr/>
        </p:nvCxnSpPr>
        <p:spPr>
          <a:xfrm>
            <a:off x="2691741" y="4050067"/>
            <a:ext cx="0" cy="3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9"/>
          <p:cNvSpPr/>
          <p:nvPr/>
        </p:nvSpPr>
        <p:spPr>
          <a:xfrm>
            <a:off x="546479" y="459335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4" name="Google Shape;234;p29"/>
          <p:cNvCxnSpPr>
            <a:stCxn id="231" idx="3"/>
            <a:endCxn id="233" idx="6"/>
          </p:cNvCxnSpPr>
          <p:nvPr/>
        </p:nvCxnSpPr>
        <p:spPr>
          <a:xfrm rot="10800000">
            <a:off x="1187334" y="4913758"/>
            <a:ext cx="20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9"/>
          <p:cNvSpPr/>
          <p:nvPr/>
        </p:nvSpPr>
        <p:spPr>
          <a:xfrm>
            <a:off x="546479" y="1938797"/>
            <a:ext cx="640800" cy="6408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6" name="Google Shape;236;p29"/>
          <p:cNvCxnSpPr>
            <a:stCxn id="235" idx="6"/>
            <a:endCxn id="217" idx="3"/>
          </p:cNvCxnSpPr>
          <p:nvPr/>
        </p:nvCxnSpPr>
        <p:spPr>
          <a:xfrm>
            <a:off x="1187279" y="2259197"/>
            <a:ext cx="19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Google Shape;237;p29"/>
          <p:cNvSpPr txBox="1"/>
          <p:nvPr/>
        </p:nvSpPr>
        <p:spPr>
          <a:xfrm>
            <a:off x="6976900" y="3549900"/>
            <a:ext cx="45159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Input Processing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1600791" y="577010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Output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29"/>
          <p:cNvSpPr/>
          <p:nvPr/>
        </p:nvSpPr>
        <p:spPr>
          <a:xfrm rot="-5400000">
            <a:off x="1045434" y="61236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BF2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546479" y="5914258"/>
            <a:ext cx="640800" cy="640800"/>
          </a:xfrm>
          <a:prstGeom prst="ellipse">
            <a:avLst/>
          </a:prstGeom>
          <a:solidFill>
            <a:srgbClr val="5BF2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41" name="Google Shape;241;p29"/>
          <p:cNvCxnSpPr>
            <a:stCxn id="239" idx="3"/>
            <a:endCxn id="240" idx="6"/>
          </p:cNvCxnSpPr>
          <p:nvPr/>
        </p:nvCxnSpPr>
        <p:spPr>
          <a:xfrm rot="10800000">
            <a:off x="1187334" y="6234658"/>
            <a:ext cx="20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29"/>
          <p:cNvCxnSpPr>
            <a:stCxn id="230" idx="2"/>
            <a:endCxn id="238" idx="0"/>
          </p:cNvCxnSpPr>
          <p:nvPr/>
        </p:nvCxnSpPr>
        <p:spPr>
          <a:xfrm>
            <a:off x="2691741" y="5378308"/>
            <a:ext cx="0" cy="39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29"/>
          <p:cNvSpPr txBox="1"/>
          <p:nvPr/>
        </p:nvSpPr>
        <p:spPr>
          <a:xfrm>
            <a:off x="6976900" y="4121350"/>
            <a:ext cx="45159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Embedding Layer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6976900" y="4692800"/>
            <a:ext cx="45159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Transformer Encoder-Decoder Model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6976900" y="5264250"/>
            <a:ext cx="45159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Contextual Reinforcement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6976900" y="5835700"/>
            <a:ext cx="45159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Output Post-processing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47" name="Google Shape;247;p29"/>
          <p:cNvCxnSpPr>
            <a:stCxn id="237" idx="1"/>
            <a:endCxn id="230" idx="3"/>
          </p:cNvCxnSpPr>
          <p:nvPr/>
        </p:nvCxnSpPr>
        <p:spPr>
          <a:xfrm flipH="1">
            <a:off x="3782800" y="3770850"/>
            <a:ext cx="3194100" cy="1143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9"/>
          <p:cNvCxnSpPr>
            <a:stCxn id="243" idx="1"/>
            <a:endCxn id="230" idx="3"/>
          </p:cNvCxnSpPr>
          <p:nvPr/>
        </p:nvCxnSpPr>
        <p:spPr>
          <a:xfrm flipH="1">
            <a:off x="3782800" y="4342300"/>
            <a:ext cx="3194100" cy="5715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9"/>
          <p:cNvCxnSpPr>
            <a:stCxn id="244" idx="1"/>
            <a:endCxn id="230" idx="3"/>
          </p:cNvCxnSpPr>
          <p:nvPr/>
        </p:nvCxnSpPr>
        <p:spPr>
          <a:xfrm rot="10800000">
            <a:off x="3782800" y="4913750"/>
            <a:ext cx="319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9"/>
          <p:cNvCxnSpPr>
            <a:stCxn id="245" idx="1"/>
            <a:endCxn id="230" idx="3"/>
          </p:cNvCxnSpPr>
          <p:nvPr/>
        </p:nvCxnSpPr>
        <p:spPr>
          <a:xfrm rot="10800000">
            <a:off x="3782800" y="4913700"/>
            <a:ext cx="3194100" cy="5715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9"/>
          <p:cNvCxnSpPr>
            <a:stCxn id="246" idx="1"/>
            <a:endCxn id="230" idx="3"/>
          </p:cNvCxnSpPr>
          <p:nvPr/>
        </p:nvCxnSpPr>
        <p:spPr>
          <a:xfrm rot="10800000">
            <a:off x="3782800" y="4913650"/>
            <a:ext cx="3194100" cy="1143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/>
          <p:nvPr/>
        </p:nvSpPr>
        <p:spPr>
          <a:xfrm>
            <a:off x="1600791" y="179465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p30"/>
          <p:cNvSpPr/>
          <p:nvPr/>
        </p:nvSpPr>
        <p:spPr>
          <a:xfrm rot="-5400000">
            <a:off x="1033059" y="21482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1600791" y="3120967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Preprocessing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30"/>
          <p:cNvSpPr/>
          <p:nvPr/>
        </p:nvSpPr>
        <p:spPr>
          <a:xfrm rot="-5400000">
            <a:off x="1033059" y="3473167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60" name="Google Shape;260;p30"/>
          <p:cNvCxnSpPr>
            <a:stCxn id="256" idx="2"/>
            <a:endCxn id="258" idx="0"/>
          </p:cNvCxnSpPr>
          <p:nvPr/>
        </p:nvCxnSpPr>
        <p:spPr>
          <a:xfrm>
            <a:off x="2691741" y="2723758"/>
            <a:ext cx="0" cy="39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0"/>
          <p:cNvSpPr/>
          <p:nvPr/>
        </p:nvSpPr>
        <p:spPr>
          <a:xfrm>
            <a:off x="546479" y="3263764"/>
            <a:ext cx="640800" cy="640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62" name="Google Shape;262;p30"/>
          <p:cNvCxnSpPr>
            <a:endCxn id="261" idx="6"/>
          </p:cNvCxnSpPr>
          <p:nvPr/>
        </p:nvCxnSpPr>
        <p:spPr>
          <a:xfrm rot="10800000">
            <a:off x="1187279" y="3584164"/>
            <a:ext cx="1917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30"/>
          <p:cNvSpPr/>
          <p:nvPr/>
        </p:nvSpPr>
        <p:spPr>
          <a:xfrm>
            <a:off x="14279279" y="355408"/>
            <a:ext cx="640800" cy="6408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14279279" y="179460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65" name="Google Shape;265;p30"/>
          <p:cNvCxnSpPr>
            <a:stCxn id="266" idx="3"/>
            <a:endCxn id="263" idx="2"/>
          </p:cNvCxnSpPr>
          <p:nvPr/>
        </p:nvCxnSpPr>
        <p:spPr>
          <a:xfrm>
            <a:off x="14063279" y="6758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0"/>
          <p:cNvCxnSpPr>
            <a:stCxn id="264" idx="2"/>
            <a:endCxn id="268" idx="3"/>
          </p:cNvCxnSpPr>
          <p:nvPr/>
        </p:nvCxnSpPr>
        <p:spPr>
          <a:xfrm rot="10800000">
            <a:off x="14063279" y="211500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" name="Google Shape;269;p30"/>
          <p:cNvSpPr/>
          <p:nvPr/>
        </p:nvSpPr>
        <p:spPr>
          <a:xfrm>
            <a:off x="1600791" y="444920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 Integration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0" name="Google Shape;270;p30"/>
          <p:cNvSpPr/>
          <p:nvPr/>
        </p:nvSpPr>
        <p:spPr>
          <a:xfrm rot="-5400000">
            <a:off x="1045434" y="48027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1" name="Google Shape;271;p30"/>
          <p:cNvCxnSpPr>
            <a:stCxn id="258" idx="2"/>
            <a:endCxn id="269" idx="0"/>
          </p:cNvCxnSpPr>
          <p:nvPr/>
        </p:nvCxnSpPr>
        <p:spPr>
          <a:xfrm>
            <a:off x="2691741" y="4050067"/>
            <a:ext cx="0" cy="3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30"/>
          <p:cNvSpPr/>
          <p:nvPr/>
        </p:nvSpPr>
        <p:spPr>
          <a:xfrm>
            <a:off x="546479" y="4593358"/>
            <a:ext cx="640800" cy="6408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3" name="Google Shape;273;p30"/>
          <p:cNvCxnSpPr>
            <a:stCxn id="270" idx="3"/>
            <a:endCxn id="272" idx="6"/>
          </p:cNvCxnSpPr>
          <p:nvPr/>
        </p:nvCxnSpPr>
        <p:spPr>
          <a:xfrm rot="10800000">
            <a:off x="1187334" y="4913758"/>
            <a:ext cx="20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30"/>
          <p:cNvSpPr/>
          <p:nvPr/>
        </p:nvSpPr>
        <p:spPr>
          <a:xfrm>
            <a:off x="546479" y="1938797"/>
            <a:ext cx="640800" cy="6408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5" name="Google Shape;275;p30"/>
          <p:cNvCxnSpPr>
            <a:stCxn id="274" idx="6"/>
            <a:endCxn id="257" idx="3"/>
          </p:cNvCxnSpPr>
          <p:nvPr/>
        </p:nvCxnSpPr>
        <p:spPr>
          <a:xfrm>
            <a:off x="1187279" y="2259197"/>
            <a:ext cx="19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30"/>
          <p:cNvSpPr/>
          <p:nvPr/>
        </p:nvSpPr>
        <p:spPr>
          <a:xfrm>
            <a:off x="1600791" y="5770108"/>
            <a:ext cx="2181900" cy="929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Output Layer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7" name="Google Shape;277;p30"/>
          <p:cNvSpPr/>
          <p:nvPr/>
        </p:nvSpPr>
        <p:spPr>
          <a:xfrm rot="-5400000">
            <a:off x="1045434" y="6123658"/>
            <a:ext cx="925200" cy="222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BF2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546479" y="5914258"/>
            <a:ext cx="640800" cy="640800"/>
          </a:xfrm>
          <a:prstGeom prst="ellipse">
            <a:avLst/>
          </a:prstGeom>
          <a:solidFill>
            <a:srgbClr val="5BF2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9" name="Google Shape;279;p30"/>
          <p:cNvCxnSpPr>
            <a:stCxn id="277" idx="3"/>
            <a:endCxn id="278" idx="6"/>
          </p:cNvCxnSpPr>
          <p:nvPr/>
        </p:nvCxnSpPr>
        <p:spPr>
          <a:xfrm rot="10800000">
            <a:off x="1187334" y="6234658"/>
            <a:ext cx="20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0"/>
          <p:cNvCxnSpPr>
            <a:stCxn id="269" idx="2"/>
            <a:endCxn id="276" idx="0"/>
          </p:cNvCxnSpPr>
          <p:nvPr/>
        </p:nvCxnSpPr>
        <p:spPr>
          <a:xfrm>
            <a:off x="2691741" y="5378308"/>
            <a:ext cx="0" cy="39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1" name="Google Shape;281;p30"/>
          <p:cNvSpPr txBox="1"/>
          <p:nvPr/>
        </p:nvSpPr>
        <p:spPr>
          <a:xfrm>
            <a:off x="6976900" y="4121350"/>
            <a:ext cx="47211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Encoder (Bidirectional Attention)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6976900" y="4692800"/>
            <a:ext cx="47211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Decoder (Auto-regressive Generation)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6976900" y="5264250"/>
            <a:ext cx="47211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 Text Generation &amp; Decoding Strategies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6976900" y="5835700"/>
            <a:ext cx="47211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Output Post-processing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85" name="Google Shape;285;p30"/>
          <p:cNvCxnSpPr>
            <a:stCxn id="281" idx="1"/>
            <a:endCxn id="269" idx="3"/>
          </p:cNvCxnSpPr>
          <p:nvPr/>
        </p:nvCxnSpPr>
        <p:spPr>
          <a:xfrm flipH="1">
            <a:off x="3782800" y="4342300"/>
            <a:ext cx="3194100" cy="5715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30"/>
          <p:cNvCxnSpPr>
            <a:stCxn id="282" idx="1"/>
            <a:endCxn id="269" idx="3"/>
          </p:cNvCxnSpPr>
          <p:nvPr/>
        </p:nvCxnSpPr>
        <p:spPr>
          <a:xfrm rot="10800000">
            <a:off x="3782800" y="4913750"/>
            <a:ext cx="319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0"/>
          <p:cNvCxnSpPr>
            <a:stCxn id="283" idx="1"/>
            <a:endCxn id="269" idx="3"/>
          </p:cNvCxnSpPr>
          <p:nvPr/>
        </p:nvCxnSpPr>
        <p:spPr>
          <a:xfrm rot="10800000">
            <a:off x="3782800" y="4913700"/>
            <a:ext cx="3194100" cy="5715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0"/>
          <p:cNvCxnSpPr>
            <a:stCxn id="284" idx="1"/>
            <a:endCxn id="269" idx="3"/>
          </p:cNvCxnSpPr>
          <p:nvPr/>
        </p:nvCxnSpPr>
        <p:spPr>
          <a:xfrm rot="10800000">
            <a:off x="3782800" y="4913650"/>
            <a:ext cx="3194100" cy="1143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30"/>
          <p:cNvSpPr txBox="1">
            <a:spLocks noGrp="1"/>
          </p:cNvSpPr>
          <p:nvPr>
            <p:ph type="title"/>
          </p:nvPr>
        </p:nvSpPr>
        <p:spPr>
          <a:xfrm>
            <a:off x="735625" y="469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Architecture : Abstraction Based (T5) </a:t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7034625" y="2166650"/>
            <a:ext cx="46635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Tokenization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7034625" y="2737088"/>
            <a:ext cx="4663500" cy="441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Medium"/>
              <a:buChar char="●"/>
            </a:pPr>
            <a:r>
              <a:rPr lang="en-QA" sz="1600">
                <a:latin typeface="Montserrat Medium"/>
                <a:ea typeface="Montserrat Medium"/>
                <a:cs typeface="Montserrat Medium"/>
                <a:sym typeface="Montserrat Medium"/>
              </a:rPr>
              <a:t>Cleaning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92" name="Google Shape;292;p30"/>
          <p:cNvCxnSpPr>
            <a:endCxn id="258" idx="3"/>
          </p:cNvCxnSpPr>
          <p:nvPr/>
        </p:nvCxnSpPr>
        <p:spPr>
          <a:xfrm flipH="1">
            <a:off x="3782691" y="2412517"/>
            <a:ext cx="3251700" cy="1173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0"/>
          <p:cNvCxnSpPr>
            <a:stCxn id="291" idx="1"/>
            <a:endCxn id="258" idx="3"/>
          </p:cNvCxnSpPr>
          <p:nvPr/>
        </p:nvCxnSpPr>
        <p:spPr>
          <a:xfrm flipH="1">
            <a:off x="3782625" y="2958038"/>
            <a:ext cx="3252000" cy="627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Datasets</a:t>
            </a:r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651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have obtained two datasets from Kaggle to fine tune the abstractive-based summariser and test both the models::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85800" lvl="1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CNN News Articles 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0" lvl="2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unique news articles and their summaries as written by journalists at CNN and the Daily Mail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0" lvl="2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supports both extractive and abstractive summarisation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85800" lvl="1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BBC News Summary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0" lvl="2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articles and their summariser classified into five categories - business, entertainment, politics, sport and tech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0" lvl="2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supports extractive summarisation only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631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358"/>
              <a:buNone/>
            </a:pPr>
            <a:endParaRPr sz="1452"/>
          </a:p>
          <a:p>
            <a:pPr marL="22860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358"/>
              <a:buNone/>
            </a:pPr>
            <a:endParaRPr sz="2078"/>
          </a:p>
          <a:p>
            <a:pPr marL="22860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358"/>
              <a:buNone/>
            </a:pPr>
            <a:endParaRPr sz="2078"/>
          </a:p>
          <a:p>
            <a:pPr marL="22860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358"/>
              <a:buNone/>
            </a:pPr>
            <a:endParaRPr sz="2078"/>
          </a:p>
          <a:p>
            <a:pPr marL="0" lvl="0" indent="0" algn="l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358"/>
              <a:buNone/>
            </a:pPr>
            <a:endParaRPr sz="1452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10"/>
              <a:buNone/>
            </a:pPr>
            <a:endParaRPr sz="1452"/>
          </a:p>
          <a:p>
            <a:pPr marL="228600" lvl="0" indent="-50800" algn="l" rtl="0">
              <a:lnSpc>
                <a:spcPct val="8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910"/>
              <a:buNone/>
            </a:pPr>
            <a:endParaRPr sz="145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R1 score: Overlap of unigrams between generated and reference summary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05" name="Google Shape;305;p32" title="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437" y="2029000"/>
            <a:ext cx="8561126" cy="48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Results: Extractive Summariser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Results: Extractive Summariser</a:t>
            </a:r>
            <a:endParaRPr/>
          </a:p>
        </p:txBody>
      </p:sp>
      <p:sp>
        <p:nvSpPr>
          <p:cNvPr id="312" name="Google Shape;312;p33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QA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R2 score: Overlap of bigrams between generated and reference summary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7800" lvl="0" indent="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13" name="Google Shape;313;p33" title="r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446" y="2029000"/>
            <a:ext cx="8561093" cy="48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Results: Extractive Summariser</a:t>
            </a:r>
            <a:endParaRPr/>
          </a:p>
        </p:txBody>
      </p:sp>
      <p:sp>
        <p:nvSpPr>
          <p:cNvPr id="319" name="Google Shape;319;p34"/>
          <p:cNvSpPr txBox="1">
            <a:spLocks noGrp="1"/>
          </p:cNvSpPr>
          <p:nvPr>
            <p:ph type="body" idx="1"/>
          </p:nvPr>
        </p:nvSpPr>
        <p:spPr>
          <a:xfrm>
            <a:off x="9681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QA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RL score: Measure  LCS  between generated and reference summary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20" name="Google Shape;320;p34" title="r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447" y="2029001"/>
            <a:ext cx="8561102" cy="482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Results: Abstractive Summariser</a:t>
            </a:r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9681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QA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R1, R2 and RL score of phi-3 model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27" name="Google Shape;327;p35" title="ff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350" y="2029022"/>
            <a:ext cx="8561102" cy="482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Results: Abstractive Summariser</a:t>
            </a:r>
            <a:endParaRPr/>
          </a:p>
        </p:txBody>
      </p:sp>
      <p:sp>
        <p:nvSpPr>
          <p:cNvPr id="333" name="Google Shape;333;p36"/>
          <p:cNvSpPr txBox="1">
            <a:spLocks noGrp="1"/>
          </p:cNvSpPr>
          <p:nvPr>
            <p:ph type="body" idx="1"/>
          </p:nvPr>
        </p:nvSpPr>
        <p:spPr>
          <a:xfrm>
            <a:off x="968100" y="169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QA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R1, R2 and RL score of T5 model 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34" name="Google Shape;334;p36" title="t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454" y="2029025"/>
            <a:ext cx="8561078" cy="48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"/>
          <p:cNvSpPr txBox="1">
            <a:spLocks noGrp="1"/>
          </p:cNvSpPr>
          <p:nvPr>
            <p:ph type="title"/>
          </p:nvPr>
        </p:nvSpPr>
        <p:spPr>
          <a:xfrm>
            <a:off x="838200" y="169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Code</a:t>
            </a:r>
            <a:endParaRPr/>
          </a:p>
        </p:txBody>
      </p:sp>
      <p:sp>
        <p:nvSpPr>
          <p:cNvPr id="340" name="Google Shape;340;p37"/>
          <p:cNvSpPr txBox="1">
            <a:spLocks noGrp="1"/>
          </p:cNvSpPr>
          <p:nvPr>
            <p:ph type="body" idx="1"/>
          </p:nvPr>
        </p:nvSpPr>
        <p:spPr>
          <a:xfrm>
            <a:off x="1209175" y="1979125"/>
            <a:ext cx="10650900" cy="16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function tokenizes text into sentences, removes stopwords and non-alphanumeric words, and returns cleaned and original sentences.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341" name="Google Shape;3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900" y="3422325"/>
            <a:ext cx="8416025" cy="25257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>
            <a:spLocks noGrp="1"/>
          </p:cNvSpPr>
          <p:nvPr>
            <p:ph type="title"/>
          </p:nvPr>
        </p:nvSpPr>
        <p:spPr>
          <a:xfrm>
            <a:off x="838200" y="169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Code</a:t>
            </a:r>
            <a:endParaRPr/>
          </a:p>
        </p:txBody>
      </p:sp>
      <p:sp>
        <p:nvSpPr>
          <p:cNvPr id="347" name="Google Shape;347;p38"/>
          <p:cNvSpPr txBox="1">
            <a:spLocks noGrp="1"/>
          </p:cNvSpPr>
          <p:nvPr>
            <p:ph type="body" idx="1"/>
          </p:nvPr>
        </p:nvSpPr>
        <p:spPr>
          <a:xfrm>
            <a:off x="1216450" y="1812925"/>
            <a:ext cx="101373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Generates an extractive summary by cleaning text, calculating TF-IDF scores, and selecting top-ranked sentences based on cosine similarity.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150" y="3064588"/>
            <a:ext cx="9258449" cy="32449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>
            <a:spLocks noGrp="1"/>
          </p:cNvSpPr>
          <p:nvPr>
            <p:ph type="title"/>
          </p:nvPr>
        </p:nvSpPr>
        <p:spPr>
          <a:xfrm>
            <a:off x="838200" y="169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QA"/>
              <a:t>Code</a:t>
            </a: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body" idx="1"/>
          </p:nvPr>
        </p:nvSpPr>
        <p:spPr>
          <a:xfrm>
            <a:off x="6978325" y="2198250"/>
            <a:ext cx="5213700" cy="4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Initializes the OllamaLLM model (phi3) for text summarization using CUDA.</a:t>
            </a:r>
            <a:b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summarize_text function generates summaries by prompting the model and handles exceptions.</a:t>
            </a:r>
            <a:b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compute_rouge function calculates ROUGE scores to evaluate the similarity between reference and generated summaries.</a:t>
            </a:r>
            <a:br>
              <a:rPr lang="en-QA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2" b="1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55" name="Google Shape;3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50" y="2124050"/>
            <a:ext cx="6673525" cy="39876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>
            <a:spLocks noGrp="1"/>
          </p:cNvSpPr>
          <p:nvPr>
            <p:ph type="body" idx="1"/>
          </p:nvPr>
        </p:nvSpPr>
        <p:spPr>
          <a:xfrm>
            <a:off x="3551350" y="259340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QA" sz="6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6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st Infographics by Slidesgo">
  <a:themeElements>
    <a:clrScheme name="Simple Light">
      <a:dk1>
        <a:srgbClr val="000000"/>
      </a:dk1>
      <a:lt1>
        <a:srgbClr val="FFFFFF"/>
      </a:lt1>
      <a:dk2>
        <a:srgbClr val="AFAFAF"/>
      </a:dk2>
      <a:lt2>
        <a:srgbClr val="EEEEE6"/>
      </a:lt2>
      <a:accent1>
        <a:srgbClr val="D93821"/>
      </a:accent1>
      <a:accent2>
        <a:srgbClr val="F86E64"/>
      </a:accent2>
      <a:accent3>
        <a:srgbClr val="FAACA8"/>
      </a:accent3>
      <a:accent4>
        <a:srgbClr val="389D9B"/>
      </a:accent4>
      <a:accent5>
        <a:srgbClr val="49C7C4"/>
      </a:accent5>
      <a:accent6>
        <a:srgbClr val="5BF2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Widescreen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Calibri</vt:lpstr>
      <vt:lpstr>Montserrat</vt:lpstr>
      <vt:lpstr>Montserrat Medium</vt:lpstr>
      <vt:lpstr>Lato</vt:lpstr>
      <vt:lpstr>Fira Sans Extra Condensed</vt:lpstr>
      <vt:lpstr>Raleway</vt:lpstr>
      <vt:lpstr>Montserrat SemiBold</vt:lpstr>
      <vt:lpstr>Arial</vt:lpstr>
      <vt:lpstr>Streamline</vt:lpstr>
      <vt:lpstr>List Infographics by Slidesgo</vt:lpstr>
      <vt:lpstr>Text Summariser</vt:lpstr>
      <vt:lpstr>Introduction and Progress</vt:lpstr>
      <vt:lpstr>Architecture : Extraction Based Summariser</vt:lpstr>
      <vt:lpstr>Architecture : Abstraction Based (phi-3) </vt:lpstr>
      <vt:lpstr>Architecture : Abstraction Based (T5) </vt:lpstr>
      <vt:lpstr>Datasets</vt:lpstr>
      <vt:lpstr>Results: Extractive Summariser</vt:lpstr>
      <vt:lpstr>Results: Extractive Summariser</vt:lpstr>
      <vt:lpstr>Results: Extractive Summariser</vt:lpstr>
      <vt:lpstr>Results: Abstractive Summariser</vt:lpstr>
      <vt:lpstr>Results: Abstractive Summariser</vt:lpstr>
      <vt:lpstr>Code</vt:lpstr>
      <vt:lpstr>Code</vt:lpstr>
      <vt:lpstr>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Sarvesh Baheti</cp:lastModifiedBy>
  <cp:revision>1</cp:revision>
  <dcterms:modified xsi:type="dcterms:W3CDTF">2025-03-28T04:36:58Z</dcterms:modified>
</cp:coreProperties>
</file>